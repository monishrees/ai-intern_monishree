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58" r:id="rId5"/>
    <p:sldId id="260" r:id="rId6"/>
    <p:sldId id="263" r:id="rId7"/>
    <p:sldId id="262"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66" d="100"/>
          <a:sy n="66" d="100"/>
        </p:scale>
        <p:origin x="632"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16-Feb-26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16-Feb-26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16-Feb-26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16-Feb-26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16-Feb-26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16-Feb-26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16-Feb-26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16-Feb-26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16-Feb-26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16-Feb-26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16-Feb-26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16-Feb-26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16-Feb-26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16-Feb-26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16-Feb-26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16-Feb-26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16-Feb-26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16-Feb-26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8170" y="883257"/>
            <a:ext cx="7650881" cy="3329581"/>
          </a:xfrm>
        </p:spPr>
        <p:txBody>
          <a:bodyPr/>
          <a:lstStyle/>
          <a:p>
            <a:r>
              <a:rPr lang="en-US" sz="5400" b="1" dirty="0"/>
              <a:t>Student Performance Analysis Using Python</a:t>
            </a:r>
          </a:p>
        </p:txBody>
      </p:sp>
      <p:sp>
        <p:nvSpPr>
          <p:cNvPr id="3" name="Subtitle 2"/>
          <p:cNvSpPr>
            <a:spLocks noGrp="1"/>
          </p:cNvSpPr>
          <p:nvPr>
            <p:ph type="subTitle" idx="1"/>
          </p:nvPr>
        </p:nvSpPr>
        <p:spPr>
          <a:xfrm>
            <a:off x="8931331" y="5373728"/>
            <a:ext cx="3067188" cy="861420"/>
          </a:xfrm>
        </p:spPr>
        <p:txBody>
          <a:bodyPr/>
          <a:lstStyle/>
          <a:p>
            <a:r>
              <a:rPr lang="en-US" dirty="0" smtClean="0"/>
              <a:t>Presented by :</a:t>
            </a:r>
          </a:p>
          <a:p>
            <a:r>
              <a:rPr lang="en-US" dirty="0" smtClean="0"/>
              <a:t>    </a:t>
            </a:r>
            <a:r>
              <a:rPr lang="en-US" dirty="0" err="1" smtClean="0"/>
              <a:t>Moni</a:t>
            </a:r>
            <a:r>
              <a:rPr lang="en-US" dirty="0" smtClean="0"/>
              <a:t> Shree S</a:t>
            </a:r>
            <a:endParaRPr lang="en-US" dirty="0"/>
          </a:p>
        </p:txBody>
      </p:sp>
    </p:spTree>
    <p:extLst>
      <p:ext uri="{BB962C8B-B14F-4D97-AF65-F5344CB8AC3E}">
        <p14:creationId xmlns:p14="http://schemas.microsoft.com/office/powerpoint/2010/main" val="4212159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600" dirty="0"/>
              <a:t>Problem Statement</a:t>
            </a:r>
          </a:p>
        </p:txBody>
      </p:sp>
      <p:sp>
        <p:nvSpPr>
          <p:cNvPr id="5" name="Text Placeholder 4"/>
          <p:cNvSpPr>
            <a:spLocks noGrp="1"/>
          </p:cNvSpPr>
          <p:nvPr>
            <p:ph type="body" sz="half" idx="2"/>
          </p:nvPr>
        </p:nvSpPr>
        <p:spPr>
          <a:xfrm>
            <a:off x="1820849" y="2438400"/>
            <a:ext cx="8223375" cy="2362200"/>
          </a:xfrm>
        </p:spPr>
        <p:txBody>
          <a:bodyPr>
            <a:normAutofit fontScale="92500" lnSpcReduction="20000"/>
          </a:bodyPr>
          <a:lstStyle/>
          <a:p>
            <a:pPr algn="just">
              <a:lnSpc>
                <a:spcPct val="160000"/>
              </a:lnSpc>
            </a:pPr>
            <a:r>
              <a:rPr lang="en-US" dirty="0"/>
              <a:t>Educational institutions need data-driven insights to better understand the factors affecting student academic performance. This project analyzes student demographic and academic data to identify key drivers of test scores and builds predictive models to estimate performance outcomes. The objective is to support early identification of at-risk students and provide actionable recommendations to improve academic success.</a:t>
            </a:r>
          </a:p>
        </p:txBody>
      </p:sp>
    </p:spTree>
    <p:extLst>
      <p:ext uri="{BB962C8B-B14F-4D97-AF65-F5344CB8AC3E}">
        <p14:creationId xmlns:p14="http://schemas.microsoft.com/office/powerpoint/2010/main" val="4272960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571" y="652251"/>
            <a:ext cx="8825659" cy="500270"/>
          </a:xfrm>
        </p:spPr>
        <p:txBody>
          <a:bodyPr/>
          <a:lstStyle/>
          <a:p>
            <a:r>
              <a:rPr lang="en-US" sz="3600" dirty="0" smtClean="0"/>
              <a:t>Dataset</a:t>
            </a:r>
            <a:endParaRPr lang="en-US" sz="3600" dirty="0"/>
          </a:p>
        </p:txBody>
      </p:sp>
      <p:sp>
        <p:nvSpPr>
          <p:cNvPr id="4" name="Rectangle 1"/>
          <p:cNvSpPr>
            <a:spLocks noGrp="1" noChangeArrowheads="1"/>
          </p:cNvSpPr>
          <p:nvPr>
            <p:ph type="body" sz="half" idx="2"/>
          </p:nvPr>
        </p:nvSpPr>
        <p:spPr bwMode="auto">
          <a:xfrm>
            <a:off x="1154954" y="1440804"/>
            <a:ext cx="914620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b="0" i="0" u="none" strike="noStrike" cap="none" normalizeH="0" baseline="0" dirty="0" smtClean="0">
                <a:ln>
                  <a:noFill/>
                </a:ln>
                <a:solidFill>
                  <a:schemeClr val="tx1"/>
                </a:solidFill>
                <a:effectLst/>
                <a:latin typeface="Arial" panose="020B0604020202020204" pitchFamily="34" charset="0"/>
              </a:rPr>
              <a:t>Student-level academic &amp; demographic data</a:t>
            </a:r>
          </a:p>
          <a:p>
            <a:pPr marL="342900" lvl="0" indent="-342900" algn="just" defTabSz="914400" eaLnBrk="0" fontAlgn="base" hangingPunct="0">
              <a:lnSpc>
                <a:spcPct val="150000"/>
              </a:lnSpc>
              <a:spcBef>
                <a:spcPct val="0"/>
              </a:spcBef>
              <a:spcAft>
                <a:spcPct val="0"/>
              </a:spcAft>
              <a:buClrTx/>
              <a:buSzTx/>
              <a:buFont typeface="+mj-lt"/>
              <a:buAutoNum type="arabicPeriod"/>
            </a:pPr>
            <a:r>
              <a:rPr lang="en-US" b="1" dirty="0" smtClean="0"/>
              <a:t>Dataset </a:t>
            </a:r>
            <a:r>
              <a:rPr lang="en-US" b="1" dirty="0"/>
              <a:t>Size:</a:t>
            </a:r>
            <a:r>
              <a:rPr lang="en-US" dirty="0"/>
              <a:t> 205 student records with 16 features.</a:t>
            </a:r>
            <a:endParaRPr kumimoji="0" lang="en-US" b="0" i="0" u="none" strike="noStrike" cap="none" normalizeH="0" baseline="0" dirty="0" smtClean="0">
              <a:ln>
                <a:noFill/>
              </a:ln>
              <a:solidFill>
                <a:schemeClr val="tx1"/>
              </a:solidFill>
              <a:effectLst/>
              <a:latin typeface="Arial" panose="020B0604020202020204" pitchFamily="34" charset="0"/>
            </a:endParaRPr>
          </a:p>
          <a:p>
            <a:pPr marL="342900" lvl="0" indent="-342900" algn="just" defTabSz="914400" eaLnBrk="0" fontAlgn="base" hangingPunct="0">
              <a:lnSpc>
                <a:spcPct val="150000"/>
              </a:lnSpc>
              <a:spcBef>
                <a:spcPct val="0"/>
              </a:spcBef>
              <a:spcAft>
                <a:spcPct val="0"/>
              </a:spcAft>
              <a:buClrTx/>
              <a:buSzTx/>
              <a:buFont typeface="+mj-lt"/>
              <a:buAutoNum type="arabicPeriod"/>
            </a:pPr>
            <a:r>
              <a:rPr lang="en-US" dirty="0"/>
              <a:t>Data cleaned and prepared for modeling (missing values handled, rules enforced, encoding applied)</a:t>
            </a:r>
            <a:endParaRPr lang="en-US" dirty="0">
              <a:latin typeface="Arial"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b="0" i="0" u="none" strike="noStrike" cap="none" normalizeH="0" baseline="0" dirty="0" smtClean="0">
                <a:ln>
                  <a:noFill/>
                </a:ln>
                <a:solidFill>
                  <a:schemeClr val="tx1"/>
                </a:solidFill>
                <a:effectLst/>
                <a:latin typeface="Arial" panose="020B0604020202020204" pitchFamily="34" charset="0"/>
              </a:rPr>
              <a:t>Target Variable: </a:t>
            </a:r>
            <a:r>
              <a:rPr kumimoji="0" lang="en-US" b="1" i="0" u="none" strike="noStrike" cap="none" normalizeH="0" baseline="0" dirty="0" err="1" smtClean="0">
                <a:ln>
                  <a:noFill/>
                </a:ln>
                <a:solidFill>
                  <a:schemeClr val="tx1"/>
                </a:solidFill>
                <a:effectLst/>
                <a:latin typeface="Arial" panose="020B0604020202020204" pitchFamily="34" charset="0"/>
              </a:rPr>
              <a:t>test_score</a:t>
            </a:r>
            <a:endParaRPr kumimoji="0" lang="en-US" b="0" i="0" u="none" strike="noStrike" cap="none" normalizeH="0" baseline="0" dirty="0" smtClean="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b="0" i="0" u="none" strike="noStrike" cap="none" normalizeH="0" baseline="0" dirty="0" smtClean="0">
                <a:ln>
                  <a:noFill/>
                </a:ln>
                <a:solidFill>
                  <a:schemeClr val="tx1"/>
                </a:solidFill>
                <a:effectLst/>
                <a:latin typeface="Arial" panose="020B0604020202020204" pitchFamily="34" charset="0"/>
              </a:rPr>
              <a:t>Key Features:</a:t>
            </a:r>
          </a:p>
          <a:p>
            <a:pPr marL="628650" lvl="1" indent="-171450" algn="just" defTabSz="914400" eaLnBrk="0" fontAlgn="base" hangingPunct="0">
              <a:lnSpc>
                <a:spcPct val="150000"/>
              </a:lnSpc>
              <a:spcBef>
                <a:spcPct val="0"/>
              </a:spcBef>
              <a:spcAft>
                <a:spcPct val="0"/>
              </a:spcAft>
              <a:buClrTx/>
              <a:buSzTx/>
              <a:buFont typeface="Arial" panose="020B0604020202020204" pitchFamily="34" charset="0"/>
              <a:buChar char="•"/>
            </a:pPr>
            <a:r>
              <a:rPr kumimoji="0" lang="en-US" sz="1800" b="0" i="0" u="none" strike="noStrike" cap="none" normalizeH="0" baseline="0" dirty="0" smtClean="0">
                <a:ln>
                  <a:noFill/>
                </a:ln>
                <a:solidFill>
                  <a:schemeClr val="tx1"/>
                </a:solidFill>
                <a:effectLst/>
                <a:latin typeface="Arial" panose="020B0604020202020204" pitchFamily="34" charset="0"/>
              </a:rPr>
              <a:t>Study hours per week</a:t>
            </a:r>
          </a:p>
          <a:p>
            <a:pPr marL="628650" lvl="1" indent="-171450" algn="just" defTabSz="914400" eaLnBrk="0" fontAlgn="base" hangingPunct="0">
              <a:lnSpc>
                <a:spcPct val="150000"/>
              </a:lnSpc>
              <a:spcBef>
                <a:spcPct val="0"/>
              </a:spcBef>
              <a:spcAft>
                <a:spcPct val="0"/>
              </a:spcAft>
              <a:buClrTx/>
              <a:buSzTx/>
              <a:buFont typeface="Arial" panose="020B0604020202020204" pitchFamily="34" charset="0"/>
              <a:buChar char="•"/>
            </a:pPr>
            <a:r>
              <a:rPr kumimoji="0" lang="en-US" sz="1800" b="0" i="0" u="none" strike="noStrike" cap="none" normalizeH="0" baseline="0" dirty="0" smtClean="0">
                <a:ln>
                  <a:noFill/>
                </a:ln>
                <a:solidFill>
                  <a:schemeClr val="tx1"/>
                </a:solidFill>
                <a:effectLst/>
                <a:latin typeface="Arial" panose="020B0604020202020204" pitchFamily="34" charset="0"/>
              </a:rPr>
              <a:t>Attendance rate</a:t>
            </a:r>
          </a:p>
          <a:p>
            <a:pPr marL="628650" lvl="1" indent="-171450" algn="just" defTabSz="914400" eaLnBrk="0" fontAlgn="base" hangingPunct="0">
              <a:lnSpc>
                <a:spcPct val="150000"/>
              </a:lnSpc>
              <a:spcBef>
                <a:spcPct val="0"/>
              </a:spcBef>
              <a:spcAft>
                <a:spcPct val="0"/>
              </a:spcAft>
              <a:buClrTx/>
              <a:buSzTx/>
              <a:buFont typeface="Arial" panose="020B0604020202020204" pitchFamily="34" charset="0"/>
              <a:buChar char="•"/>
            </a:pPr>
            <a:r>
              <a:rPr kumimoji="0" lang="en-US" sz="1800" b="0" i="0" u="none" strike="noStrike" cap="none" normalizeH="0" baseline="0" dirty="0" smtClean="0">
                <a:ln>
                  <a:noFill/>
                </a:ln>
                <a:solidFill>
                  <a:schemeClr val="tx1"/>
                </a:solidFill>
                <a:effectLst/>
                <a:latin typeface="Arial" panose="020B0604020202020204" pitchFamily="34" charset="0"/>
              </a:rPr>
              <a:t>Prior GPA (10-point scale)</a:t>
            </a:r>
          </a:p>
          <a:p>
            <a:pPr marL="628650" lvl="1" indent="-171450" algn="just" defTabSz="914400" eaLnBrk="0" fontAlgn="base" hangingPunct="0">
              <a:lnSpc>
                <a:spcPct val="150000"/>
              </a:lnSpc>
              <a:spcBef>
                <a:spcPct val="0"/>
              </a:spcBef>
              <a:spcAft>
                <a:spcPct val="0"/>
              </a:spcAft>
              <a:buClrTx/>
              <a:buSzTx/>
              <a:buFont typeface="Arial" panose="020B0604020202020204" pitchFamily="34" charset="0"/>
              <a:buChar char="•"/>
            </a:pPr>
            <a:r>
              <a:rPr kumimoji="0" lang="en-US" sz="1800" b="0" i="0" u="none" strike="noStrike" cap="none" normalizeH="0" baseline="0" dirty="0" smtClean="0">
                <a:ln>
                  <a:noFill/>
                </a:ln>
                <a:solidFill>
                  <a:schemeClr val="tx1"/>
                </a:solidFill>
                <a:effectLst/>
                <a:latin typeface="Arial" panose="020B0604020202020204" pitchFamily="34" charset="0"/>
              </a:rPr>
              <a:t>Internet access</a:t>
            </a:r>
          </a:p>
          <a:p>
            <a:pPr marL="628650" lvl="1" indent="-171450" algn="just" defTabSz="914400" eaLnBrk="0" fontAlgn="base" hangingPunct="0">
              <a:lnSpc>
                <a:spcPct val="150000"/>
              </a:lnSpc>
              <a:spcBef>
                <a:spcPct val="0"/>
              </a:spcBef>
              <a:spcAft>
                <a:spcPct val="0"/>
              </a:spcAft>
              <a:buClrTx/>
              <a:buSzTx/>
              <a:buFont typeface="Arial" panose="020B0604020202020204" pitchFamily="34" charset="0"/>
              <a:buChar char="•"/>
            </a:pPr>
            <a:r>
              <a:rPr kumimoji="0" lang="en-US" sz="1800" b="0" i="0" u="none" strike="noStrike" cap="none" normalizeH="0" baseline="0" dirty="0" smtClean="0">
                <a:ln>
                  <a:noFill/>
                </a:ln>
                <a:solidFill>
                  <a:schemeClr val="tx1"/>
                </a:solidFill>
                <a:effectLst/>
                <a:latin typeface="Arial" panose="020B0604020202020204" pitchFamily="34" charset="0"/>
              </a:rPr>
              <a:t>Gender</a:t>
            </a:r>
          </a:p>
          <a:p>
            <a:pPr marL="628650" lvl="1" indent="-171450" algn="just" defTabSz="914400" eaLnBrk="0" fontAlgn="base" hangingPunct="0">
              <a:lnSpc>
                <a:spcPct val="150000"/>
              </a:lnSpc>
              <a:spcBef>
                <a:spcPct val="0"/>
              </a:spcBef>
              <a:spcAft>
                <a:spcPct val="0"/>
              </a:spcAft>
              <a:buClrTx/>
              <a:buSzTx/>
              <a:buFont typeface="Arial" panose="020B0604020202020204" pitchFamily="34" charset="0"/>
              <a:buChar char="•"/>
            </a:pPr>
            <a:r>
              <a:rPr kumimoji="0" lang="en-US" sz="1800" b="0" i="0" u="none" strike="noStrike" cap="none" normalizeH="0" baseline="0" dirty="0" smtClean="0">
                <a:ln>
                  <a:noFill/>
                </a:ln>
                <a:solidFill>
                  <a:schemeClr val="tx1"/>
                </a:solidFill>
                <a:effectLst/>
                <a:latin typeface="Arial" panose="020B0604020202020204" pitchFamily="34" charset="0"/>
              </a:rPr>
              <a:t>Course stream</a:t>
            </a:r>
            <a:endParaRPr lang="en-US" sz="1800" dirty="0" smtClean="0">
              <a:latin typeface="Arial" panose="020B0604020202020204" pitchFamily="34" charset="0"/>
            </a:endParaRPr>
          </a:p>
        </p:txBody>
      </p:sp>
    </p:spTree>
    <p:extLst>
      <p:ext uri="{BB962C8B-B14F-4D97-AF65-F5344CB8AC3E}">
        <p14:creationId xmlns:p14="http://schemas.microsoft.com/office/powerpoint/2010/main" val="1469290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1821" y="685800"/>
            <a:ext cx="8825659" cy="1016000"/>
          </a:xfrm>
        </p:spPr>
        <p:txBody>
          <a:bodyPr/>
          <a:lstStyle/>
          <a:p>
            <a:r>
              <a:rPr lang="en-US" sz="3600" dirty="0"/>
              <a:t>Data Handling &amp; Cleaning</a:t>
            </a:r>
          </a:p>
        </p:txBody>
      </p:sp>
      <p:sp>
        <p:nvSpPr>
          <p:cNvPr id="4" name="Rectangle 1"/>
          <p:cNvSpPr>
            <a:spLocks noGrp="1" noChangeArrowheads="1"/>
          </p:cNvSpPr>
          <p:nvPr>
            <p:ph type="body" sz="half" idx="2"/>
          </p:nvPr>
        </p:nvSpPr>
        <p:spPr bwMode="auto">
          <a:xfrm>
            <a:off x="1718734" y="1556389"/>
            <a:ext cx="7230533"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Arial" panose="020B0604020202020204" pitchFamily="34" charset="0"/>
              </a:rPr>
              <a:t>1. Missing Value Imputation</a:t>
            </a:r>
          </a:p>
          <a:p>
            <a:pPr marR="0" lvl="0" algn="l" defTabSz="914400" rtl="0" eaLnBrk="0" fontAlgn="base" latinLnBrk="0" hangingPunct="0">
              <a:lnSpc>
                <a:spcPct val="100000"/>
              </a:lnSpc>
              <a:spcBef>
                <a:spcPct val="0"/>
              </a:spcBef>
              <a:spcAft>
                <a:spcPct val="0"/>
              </a:spcAft>
              <a:buClrTx/>
              <a:buSzTx/>
              <a:tabLst/>
            </a:pPr>
            <a:r>
              <a:rPr lang="en-US" sz="1600" dirty="0">
                <a:latin typeface="Arial" panose="020B0604020202020204" pitchFamily="34" charset="0"/>
              </a:rPr>
              <a:t> </a:t>
            </a:r>
            <a:r>
              <a:rPr lang="en-US" sz="1600" dirty="0" smtClean="0">
                <a:latin typeface="Arial" panose="020B0604020202020204" pitchFamily="34" charset="0"/>
              </a:rPr>
              <a:t>         -&gt;</a:t>
            </a:r>
            <a:r>
              <a:rPr kumimoji="0" lang="en-US" sz="1600" b="0" i="0" u="none" strike="noStrike" cap="none" normalizeH="0" baseline="0" dirty="0" smtClean="0">
                <a:ln>
                  <a:noFill/>
                </a:ln>
                <a:solidFill>
                  <a:schemeClr val="tx1"/>
                </a:solidFill>
                <a:effectLst/>
                <a:latin typeface="Arial" panose="020B0604020202020204" pitchFamily="34" charset="0"/>
              </a:rPr>
              <a:t>Numeric columns → Median</a:t>
            </a:r>
          </a:p>
          <a:p>
            <a:pPr marR="0" lvl="0" algn="l" defTabSz="914400" rtl="0" eaLnBrk="0" fontAlgn="base" latinLnBrk="0" hangingPunct="0">
              <a:lnSpc>
                <a:spcPct val="100000"/>
              </a:lnSpc>
              <a:spcBef>
                <a:spcPct val="0"/>
              </a:spcBef>
              <a:spcAft>
                <a:spcPct val="0"/>
              </a:spcAft>
              <a:buClrTx/>
              <a:buSzTx/>
              <a:tabLst/>
            </a:pPr>
            <a:r>
              <a:rPr lang="en-US" sz="1600" dirty="0" smtClean="0">
                <a:latin typeface="Arial" panose="020B0604020202020204" pitchFamily="34" charset="0"/>
              </a:rPr>
              <a:t>          -&gt;</a:t>
            </a:r>
            <a:r>
              <a:rPr kumimoji="0" lang="en-US" sz="1600" b="0" i="0" u="none" strike="noStrike" cap="none" normalizeH="0" baseline="0" dirty="0" smtClean="0">
                <a:ln>
                  <a:noFill/>
                </a:ln>
                <a:solidFill>
                  <a:schemeClr val="tx1"/>
                </a:solidFill>
                <a:effectLst/>
                <a:latin typeface="Arial" panose="020B0604020202020204" pitchFamily="34" charset="0"/>
              </a:rPr>
              <a:t>Categorical columns → Mode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600" b="1" dirty="0" smtClean="0">
                <a:latin typeface="Arial" panose="020B0604020202020204" pitchFamily="34" charset="0"/>
              </a:rPr>
              <a:t>2. </a:t>
            </a:r>
            <a:r>
              <a:rPr kumimoji="0" lang="en-US" sz="1600" b="1" i="0" u="none" strike="noStrike" cap="none" normalizeH="0" baseline="0" dirty="0" smtClean="0">
                <a:ln>
                  <a:noFill/>
                </a:ln>
                <a:solidFill>
                  <a:schemeClr val="tx1"/>
                </a:solidFill>
                <a:effectLst/>
                <a:latin typeface="Arial" panose="020B0604020202020204" pitchFamily="34" charset="0"/>
              </a:rPr>
              <a:t>Business Rule Enforcement</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panose="020B0604020202020204" pitchFamily="34" charset="0"/>
              </a:rPr>
              <a:t>          -&gt;If </a:t>
            </a:r>
            <a:r>
              <a:rPr kumimoji="0" lang="en-US" sz="1600" b="0" i="0" u="none" strike="noStrike" cap="none" normalizeH="0" baseline="0" dirty="0" smtClean="0">
                <a:ln>
                  <a:noFill/>
                </a:ln>
                <a:solidFill>
                  <a:schemeClr val="tx1"/>
                </a:solidFill>
                <a:effectLst/>
                <a:latin typeface="Arial Unicode MS" panose="020B0604020202020204" pitchFamily="34" charset="-128"/>
              </a:rPr>
              <a:t>age &lt; 17</a:t>
            </a:r>
            <a:r>
              <a:rPr kumimoji="0" lang="en-US" sz="1600" b="0" i="0" u="none" strike="noStrike" cap="none" normalizeH="0" baseline="0" dirty="0" smtClean="0">
                <a:ln>
                  <a:noFill/>
                </a:ln>
                <a:solidFill>
                  <a:schemeClr val="tx1"/>
                </a:solidFill>
                <a:effectLst/>
              </a:rPr>
              <a:t> → course stream cannot be "Degree"</a:t>
            </a:r>
            <a:endParaRPr kumimoji="0" lang="en-US" sz="16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600" b="1" dirty="0" smtClean="0">
                <a:latin typeface="Arial" panose="020B0604020202020204" pitchFamily="34" charset="0"/>
              </a:rPr>
              <a:t>3.</a:t>
            </a:r>
            <a:r>
              <a:rPr kumimoji="0" lang="en-US" sz="1600" b="1" i="0" u="none" strike="noStrike" cap="none" normalizeH="0" baseline="0" dirty="0" smtClean="0">
                <a:ln>
                  <a:noFill/>
                </a:ln>
                <a:solidFill>
                  <a:schemeClr val="tx1"/>
                </a:solidFill>
                <a:effectLst/>
                <a:latin typeface="Arial" panose="020B0604020202020204" pitchFamily="34" charset="0"/>
              </a:rPr>
              <a:t> Data Validation</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panose="020B0604020202020204" pitchFamily="34" charset="0"/>
              </a:rPr>
              <a:t>         -&gt;Invalid dates converted to </a:t>
            </a:r>
            <a:r>
              <a:rPr kumimoji="0" lang="en-US" sz="1600" b="0" i="0" u="none" strike="noStrike" cap="none" normalizeH="0" baseline="0" dirty="0" err="1" smtClean="0">
                <a:ln>
                  <a:noFill/>
                </a:ln>
                <a:solidFill>
                  <a:schemeClr val="tx1"/>
                </a:solidFill>
                <a:effectLst/>
                <a:latin typeface="Arial" panose="020B0604020202020204" pitchFamily="34" charset="0"/>
              </a:rPr>
              <a:t>NaT</a:t>
            </a:r>
            <a:endParaRPr kumimoji="0" lang="en-US" sz="16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panose="020B0604020202020204" pitchFamily="34" charset="0"/>
              </a:rPr>
              <a:t>         -&gt;Duplicate records removed</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panose="020B0604020202020204" pitchFamily="34" charset="0"/>
              </a:rPr>
              <a:t>         -&gt;Data types corrected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600" b="1" dirty="0" smtClean="0">
                <a:latin typeface="Arial" panose="020B0604020202020204" pitchFamily="34" charset="0"/>
              </a:rPr>
              <a:t>4.</a:t>
            </a:r>
            <a:r>
              <a:rPr kumimoji="0" lang="en-US" sz="1600" b="1" i="0" u="none" strike="noStrike" cap="none" normalizeH="0" baseline="0" dirty="0" smtClean="0">
                <a:ln>
                  <a:noFill/>
                </a:ln>
                <a:solidFill>
                  <a:schemeClr val="tx1"/>
                </a:solidFill>
                <a:effectLst/>
                <a:latin typeface="Arial" panose="020B0604020202020204" pitchFamily="34" charset="0"/>
              </a:rPr>
              <a:t> Model Preparation</a:t>
            </a:r>
          </a:p>
          <a:p>
            <a:pPr marL="0" marR="0" lvl="0" indent="0" algn="l" defTabSz="914400" rtl="0" eaLnBrk="0" fontAlgn="base" latinLnBrk="0" hangingPunct="0">
              <a:lnSpc>
                <a:spcPct val="100000"/>
              </a:lnSpc>
              <a:spcBef>
                <a:spcPct val="0"/>
              </a:spcBef>
              <a:spcAft>
                <a:spcPct val="0"/>
              </a:spcAft>
              <a:buClrTx/>
              <a:buSzTx/>
              <a:tabLst/>
            </a:pPr>
            <a:r>
              <a:rPr lang="en-US" sz="1600" dirty="0">
                <a:latin typeface="Arial" panose="020B0604020202020204" pitchFamily="34" charset="0"/>
              </a:rPr>
              <a:t> </a:t>
            </a:r>
            <a:r>
              <a:rPr lang="en-US" sz="1600" dirty="0" smtClean="0">
                <a:latin typeface="Arial" panose="020B0604020202020204" pitchFamily="34" charset="0"/>
              </a:rPr>
              <a:t>        -&gt;</a:t>
            </a:r>
            <a:r>
              <a:rPr kumimoji="0" lang="en-US" sz="1600" b="0" i="0" u="none" strike="noStrike" cap="none" normalizeH="0" baseline="0" dirty="0" smtClean="0">
                <a:ln>
                  <a:noFill/>
                </a:ln>
                <a:solidFill>
                  <a:schemeClr val="tx1"/>
                </a:solidFill>
                <a:effectLst/>
                <a:latin typeface="Arial" panose="020B0604020202020204" pitchFamily="34" charset="0"/>
              </a:rPr>
              <a:t>Dropped irrelevant columns (</a:t>
            </a:r>
            <a:r>
              <a:rPr kumimoji="0" lang="en-US" sz="1600" b="0" i="0" u="none" strike="noStrike" cap="none" normalizeH="0" baseline="0" dirty="0" err="1" smtClean="0">
                <a:ln>
                  <a:noFill/>
                </a:ln>
                <a:solidFill>
                  <a:schemeClr val="tx1"/>
                </a:solidFill>
                <a:effectLst/>
                <a:latin typeface="Arial Unicode MS" panose="020B0604020202020204" pitchFamily="34" charset="-128"/>
              </a:rPr>
              <a:t>student_id</a:t>
            </a:r>
            <a:r>
              <a:rPr kumimoji="0" lang="en-US" sz="1600" b="0" i="0" u="none" strike="noStrike" cap="none" normalizeH="0" baseline="0" dirty="0" smtClean="0">
                <a:ln>
                  <a:noFill/>
                </a:ln>
                <a:solidFill>
                  <a:schemeClr val="tx1"/>
                </a:solidFill>
                <a:effectLst/>
              </a:rPr>
              <a:t>, </a:t>
            </a:r>
            <a:r>
              <a:rPr kumimoji="0" lang="en-US" sz="1600" b="0" i="0" u="none" strike="noStrike" cap="none" normalizeH="0" baseline="0" dirty="0" smtClean="0">
                <a:ln>
                  <a:noFill/>
                </a:ln>
                <a:solidFill>
                  <a:schemeClr val="tx1"/>
                </a:solidFill>
                <a:effectLst/>
                <a:latin typeface="Arial Unicode MS" panose="020B0604020202020204" pitchFamily="34" charset="-128"/>
              </a:rPr>
              <a:t>comments</a:t>
            </a:r>
            <a:r>
              <a:rPr kumimoji="0" lang="en-US" sz="1600" b="0" i="0" u="none" strike="noStrike" cap="none" normalizeH="0" baseline="0" dirty="0" smtClean="0">
                <a:ln>
                  <a:noFill/>
                </a:ln>
                <a:solidFill>
                  <a:schemeClr val="tx1"/>
                </a:solidFill>
                <a:effectLst/>
              </a:rPr>
              <a:t>)</a:t>
            </a:r>
            <a:endParaRPr kumimoji="0" lang="en-US" sz="16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panose="020B0604020202020204" pitchFamily="34" charset="0"/>
              </a:rPr>
              <a:t>         -&gt;Boolean converted to 0/1</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panose="020B0604020202020204" pitchFamily="34" charset="0"/>
              </a:rPr>
              <a:t>         -&gt;</a:t>
            </a:r>
            <a:r>
              <a:rPr kumimoji="0" lang="en-US" sz="1600" b="0" i="0" u="none" strike="noStrike" cap="none" normalizeH="0" baseline="0" dirty="0" err="1" smtClean="0">
                <a:ln>
                  <a:noFill/>
                </a:ln>
                <a:solidFill>
                  <a:schemeClr val="tx1"/>
                </a:solidFill>
                <a:effectLst/>
                <a:latin typeface="Arial" panose="020B0604020202020204" pitchFamily="34" charset="0"/>
              </a:rPr>
              <a:t>Datetime</a:t>
            </a:r>
            <a:r>
              <a:rPr kumimoji="0" lang="en-US" sz="1600" b="0" i="0" u="none" strike="noStrike" cap="none" normalizeH="0" baseline="0" dirty="0" smtClean="0">
                <a:ln>
                  <a:noFill/>
                </a:ln>
                <a:solidFill>
                  <a:schemeClr val="tx1"/>
                </a:solidFill>
                <a:effectLst/>
                <a:latin typeface="Arial" panose="020B0604020202020204" pitchFamily="34" charset="0"/>
              </a:rPr>
              <a:t> columns removed before modeling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2518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1068" y="677779"/>
            <a:ext cx="8825659" cy="929640"/>
          </a:xfrm>
        </p:spPr>
        <p:txBody>
          <a:bodyPr/>
          <a:lstStyle/>
          <a:p>
            <a:r>
              <a:rPr lang="en-US" sz="3600" dirty="0"/>
              <a:t>Exploratory Data Analysis (EDA)</a:t>
            </a:r>
            <a:endParaRPr lang="en-US" sz="3600" dirty="0"/>
          </a:p>
        </p:txBody>
      </p:sp>
      <p:sp>
        <p:nvSpPr>
          <p:cNvPr id="4" name="Rectangle 1"/>
          <p:cNvSpPr>
            <a:spLocks noGrp="1" noChangeArrowheads="1"/>
          </p:cNvSpPr>
          <p:nvPr>
            <p:ph type="body" sz="half" idx="2"/>
          </p:nvPr>
        </p:nvSpPr>
        <p:spPr bwMode="auto">
          <a:xfrm>
            <a:off x="866674" y="1807391"/>
            <a:ext cx="510909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sz="1800" b="0" i="0" u="none" strike="noStrike" cap="none" normalizeH="0" baseline="0" dirty="0" smtClean="0">
                <a:ln>
                  <a:noFill/>
                </a:ln>
                <a:solidFill>
                  <a:schemeClr val="tx1"/>
                </a:solidFill>
                <a:effectLst/>
                <a:latin typeface="Arial" panose="020B0604020202020204" pitchFamily="34" charset="0"/>
              </a:rPr>
              <a:t>Higher study hours → Higher test scores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sz="1800" b="0" i="0" u="none" strike="noStrike" cap="none" normalizeH="0" baseline="0" dirty="0" smtClean="0">
                <a:ln>
                  <a:noFill/>
                </a:ln>
                <a:solidFill>
                  <a:schemeClr val="tx1"/>
                </a:solidFill>
                <a:effectLst/>
                <a:latin typeface="Arial" panose="020B0604020202020204" pitchFamily="34" charset="0"/>
              </a:rPr>
              <a:t>Higher attendance → Better performance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sz="1800" b="0" i="0" u="none" strike="noStrike" cap="none" normalizeH="0" baseline="0" dirty="0" smtClean="0">
                <a:ln>
                  <a:noFill/>
                </a:ln>
                <a:solidFill>
                  <a:schemeClr val="tx1"/>
                </a:solidFill>
                <a:effectLst/>
                <a:latin typeface="Arial" panose="020B0604020202020204" pitchFamily="34" charset="0"/>
              </a:rPr>
              <a:t> Students with internet access perform better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389" y="3224463"/>
            <a:ext cx="3435207" cy="258780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3487" y="3224463"/>
            <a:ext cx="3556231" cy="2610508"/>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18609" y="3224464"/>
            <a:ext cx="3372338" cy="2610508"/>
          </a:xfrm>
          <a:prstGeom prst="rect">
            <a:avLst/>
          </a:prstGeom>
        </p:spPr>
      </p:pic>
    </p:spTree>
    <p:extLst>
      <p:ext uri="{BB962C8B-B14F-4D97-AF65-F5344CB8AC3E}">
        <p14:creationId xmlns:p14="http://schemas.microsoft.com/office/powerpoint/2010/main" val="1928822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8069" y="995413"/>
            <a:ext cx="8825659" cy="958516"/>
          </a:xfrm>
        </p:spPr>
        <p:txBody>
          <a:bodyPr/>
          <a:lstStyle/>
          <a:p>
            <a:r>
              <a:rPr lang="en-US" sz="3600" dirty="0"/>
              <a:t>Feature Engineering</a:t>
            </a:r>
          </a:p>
        </p:txBody>
      </p:sp>
      <p:sp>
        <p:nvSpPr>
          <p:cNvPr id="3" name="Text Placeholder 2"/>
          <p:cNvSpPr>
            <a:spLocks noGrp="1"/>
          </p:cNvSpPr>
          <p:nvPr>
            <p:ph type="body" sz="half" idx="2"/>
          </p:nvPr>
        </p:nvSpPr>
        <p:spPr>
          <a:xfrm>
            <a:off x="1164579" y="1732548"/>
            <a:ext cx="8825659" cy="4065871"/>
          </a:xfrm>
        </p:spPr>
        <p:txBody>
          <a:bodyPr/>
          <a:lstStyle/>
          <a:p>
            <a:pPr marL="342900" indent="-342900">
              <a:buFont typeface="+mj-lt"/>
              <a:buAutoNum type="arabicPeriod"/>
            </a:pPr>
            <a:r>
              <a:rPr lang="en-US" dirty="0"/>
              <a:t>Created new features:</a:t>
            </a:r>
          </a:p>
          <a:p>
            <a:pPr marL="685800" lvl="1" indent="-228600">
              <a:buFont typeface="Arial" panose="020B0604020202020204" pitchFamily="34" charset="0"/>
              <a:buChar char="•"/>
            </a:pPr>
            <a:r>
              <a:rPr lang="en-US" dirty="0" err="1"/>
              <a:t>attendance_category</a:t>
            </a:r>
            <a:r>
              <a:rPr lang="en-US" dirty="0"/>
              <a:t> (Low/Medium/High)</a:t>
            </a:r>
          </a:p>
          <a:p>
            <a:pPr marL="685800" lvl="1" indent="-228600">
              <a:buFont typeface="Arial" panose="020B0604020202020204" pitchFamily="34" charset="0"/>
              <a:buChar char="•"/>
            </a:pPr>
            <a:r>
              <a:rPr lang="en-US" dirty="0" err="1"/>
              <a:t>gpa_band</a:t>
            </a:r>
            <a:r>
              <a:rPr lang="en-US" dirty="0"/>
              <a:t> (Low/Medium/High)</a:t>
            </a:r>
          </a:p>
          <a:p>
            <a:pPr marL="685800" lvl="1" indent="-228600">
              <a:buFont typeface="Arial" panose="020B0604020202020204" pitchFamily="34" charset="0"/>
              <a:buChar char="•"/>
            </a:pPr>
            <a:r>
              <a:rPr lang="en-US" dirty="0" err="1"/>
              <a:t>study_hours_bin</a:t>
            </a:r>
            <a:endParaRPr lang="en-US" dirty="0"/>
          </a:p>
          <a:p>
            <a:pPr marL="342900" indent="-342900">
              <a:buFont typeface="+mj-lt"/>
              <a:buAutoNum type="arabicPeriod"/>
            </a:pPr>
            <a:r>
              <a:rPr lang="en-US" dirty="0"/>
              <a:t>Applied One-Hot Encoding</a:t>
            </a:r>
          </a:p>
          <a:p>
            <a:pPr marL="342900" indent="-342900">
              <a:buFont typeface="+mj-lt"/>
              <a:buAutoNum type="arabicPeriod"/>
            </a:pPr>
            <a:r>
              <a:rPr lang="en-US" dirty="0"/>
              <a:t>Converted Boolean values to 0/1</a:t>
            </a:r>
          </a:p>
          <a:p>
            <a:pPr marL="342900" indent="-342900">
              <a:buFont typeface="+mj-lt"/>
              <a:buAutoNum type="arabicPeriod"/>
            </a:pPr>
            <a:r>
              <a:rPr lang="en-US" dirty="0"/>
              <a:t>Removed </a:t>
            </a:r>
            <a:r>
              <a:rPr lang="en-US" dirty="0" err="1"/>
              <a:t>datetime</a:t>
            </a:r>
            <a:r>
              <a:rPr lang="en-US" dirty="0"/>
              <a:t> fields</a:t>
            </a:r>
          </a:p>
          <a:p>
            <a:pPr marL="342900" indent="-342900">
              <a:buFont typeface="+mj-lt"/>
              <a:buAutoNum type="arabicPeriod"/>
            </a:pPr>
            <a:r>
              <a:rPr lang="en-US" dirty="0"/>
              <a:t>Scaled numeric features</a:t>
            </a:r>
          </a:p>
          <a:p>
            <a:pPr marL="342900" indent="-342900">
              <a:buFont typeface="+mj-lt"/>
              <a:buAutoNum type="arabicPeriod"/>
            </a:pPr>
            <a:r>
              <a:rPr lang="en-US" dirty="0"/>
              <a:t>These transformations improved model performance and interpretability.</a:t>
            </a:r>
          </a:p>
        </p:txBody>
      </p:sp>
    </p:spTree>
    <p:extLst>
      <p:ext uri="{BB962C8B-B14F-4D97-AF65-F5344CB8AC3E}">
        <p14:creationId xmlns:p14="http://schemas.microsoft.com/office/powerpoint/2010/main" val="466438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948" y="985787"/>
            <a:ext cx="8825659" cy="612006"/>
          </a:xfrm>
        </p:spPr>
        <p:txBody>
          <a:bodyPr/>
          <a:lstStyle/>
          <a:p>
            <a:r>
              <a:rPr lang="en-US" sz="3600" dirty="0" smtClean="0"/>
              <a:t>Model Result</a:t>
            </a:r>
            <a:endParaRPr lang="en-US" sz="3600" dirty="0"/>
          </a:p>
        </p:txBody>
      </p:sp>
      <p:graphicFrame>
        <p:nvGraphicFramePr>
          <p:cNvPr id="4" name="Table 3"/>
          <p:cNvGraphicFramePr>
            <a:graphicFrameLocks noGrp="1"/>
          </p:cNvGraphicFramePr>
          <p:nvPr>
            <p:extLst>
              <p:ext uri="{D42A27DB-BD31-4B8C-83A1-F6EECF244321}">
                <p14:modId xmlns:p14="http://schemas.microsoft.com/office/powerpoint/2010/main" val="2995070954"/>
              </p:ext>
            </p:extLst>
          </p:nvPr>
        </p:nvGraphicFramePr>
        <p:xfrm>
          <a:off x="1103313" y="3418999"/>
          <a:ext cx="8947149" cy="1463040"/>
        </p:xfrm>
        <a:graphic>
          <a:graphicData uri="http://schemas.openxmlformats.org/drawingml/2006/table">
            <a:tbl>
              <a:tblPr/>
              <a:tblGrid>
                <a:gridCol w="2982383"/>
                <a:gridCol w="2982383"/>
                <a:gridCol w="2982383"/>
              </a:tblGrid>
              <a:tr h="0">
                <a:tc>
                  <a:txBody>
                    <a:bodyPr/>
                    <a:lstStyle/>
                    <a:p>
                      <a:endParaRPr lang="en-US" dirty="0"/>
                    </a:p>
                  </a:txBody>
                  <a:tcPr anchor="ctr">
                    <a:lnL>
                      <a:noFill/>
                    </a:lnL>
                    <a:lnR>
                      <a:noFill/>
                    </a:lnR>
                    <a:lnT>
                      <a:noFill/>
                    </a:lnT>
                    <a:lnB>
                      <a:noFill/>
                    </a:lnB>
                  </a:tcPr>
                </a:tc>
                <a:tc>
                  <a:txBody>
                    <a:bodyPr/>
                    <a:lstStyle/>
                    <a:p>
                      <a:endParaRPr lang="en-US"/>
                    </a:p>
                  </a:txBody>
                  <a:tcPr anchor="ctr">
                    <a:lnL>
                      <a:noFill/>
                    </a:lnL>
                    <a:lnR>
                      <a:noFill/>
                    </a:lnR>
                    <a:lnT>
                      <a:noFill/>
                    </a:lnT>
                    <a:lnB>
                      <a:noFill/>
                    </a:lnB>
                  </a:tcPr>
                </a:tc>
                <a:tc>
                  <a:txBody>
                    <a:bodyPr/>
                    <a:lstStyle/>
                    <a:p>
                      <a:endParaRPr lang="en-US"/>
                    </a:p>
                  </a:txBody>
                  <a:tcPr anchor="ctr">
                    <a:lnL>
                      <a:noFill/>
                    </a:lnL>
                    <a:lnR>
                      <a:noFill/>
                    </a:lnR>
                    <a:lnT>
                      <a:noFill/>
                    </a:lnT>
                    <a:lnB>
                      <a:noFill/>
                    </a:lnB>
                  </a:tcPr>
                </a:tc>
              </a:tr>
              <a:tr h="0">
                <a:tc>
                  <a:txBody>
                    <a:bodyPr/>
                    <a:lstStyle/>
                    <a:p>
                      <a:endParaRPr lang="en-US" dirty="0"/>
                    </a:p>
                  </a:txBody>
                  <a:tcPr anchor="ctr">
                    <a:lnL>
                      <a:noFill/>
                    </a:lnL>
                    <a:lnR>
                      <a:noFill/>
                    </a:lnR>
                    <a:lnT>
                      <a:noFill/>
                    </a:lnT>
                    <a:lnB>
                      <a:noFill/>
                    </a:lnB>
                  </a:tcPr>
                </a:tc>
                <a:tc>
                  <a:txBody>
                    <a:bodyPr/>
                    <a:lstStyle/>
                    <a:p>
                      <a:endParaRPr lang="en-US"/>
                    </a:p>
                  </a:txBody>
                  <a:tcPr anchor="ctr">
                    <a:lnL>
                      <a:noFill/>
                    </a:lnL>
                    <a:lnR>
                      <a:noFill/>
                    </a:lnR>
                    <a:lnT>
                      <a:noFill/>
                    </a:lnT>
                    <a:lnB>
                      <a:noFill/>
                    </a:lnB>
                  </a:tcPr>
                </a:tc>
                <a:tc>
                  <a:txBody>
                    <a:bodyPr/>
                    <a:lstStyle/>
                    <a:p>
                      <a:endParaRPr lang="en-US"/>
                    </a:p>
                  </a:txBody>
                  <a:tcPr anchor="ctr">
                    <a:lnL>
                      <a:noFill/>
                    </a:lnL>
                    <a:lnR>
                      <a:noFill/>
                    </a:lnR>
                    <a:lnT>
                      <a:noFill/>
                    </a:lnT>
                    <a:lnB>
                      <a:noFill/>
                    </a:lnB>
                  </a:tcPr>
                </a:tc>
              </a:tr>
              <a:tr h="0">
                <a:tc>
                  <a:txBody>
                    <a:bodyPr/>
                    <a:lstStyle/>
                    <a:p>
                      <a:endParaRPr lang="en-US"/>
                    </a:p>
                  </a:txBody>
                  <a:tcPr anchor="ctr">
                    <a:lnL>
                      <a:noFill/>
                    </a:lnL>
                    <a:lnR>
                      <a:noFill/>
                    </a:lnR>
                    <a:lnT>
                      <a:noFill/>
                    </a:lnT>
                    <a:lnB>
                      <a:noFill/>
                    </a:lnB>
                  </a:tcPr>
                </a:tc>
                <a:tc>
                  <a:txBody>
                    <a:bodyPr/>
                    <a:lstStyle/>
                    <a:p>
                      <a:endParaRPr lang="en-US"/>
                    </a:p>
                  </a:txBody>
                  <a:tcPr anchor="ctr">
                    <a:lnL>
                      <a:noFill/>
                    </a:lnL>
                    <a:lnR>
                      <a:noFill/>
                    </a:lnR>
                    <a:lnT>
                      <a:noFill/>
                    </a:lnT>
                    <a:lnB>
                      <a:noFill/>
                    </a:lnB>
                  </a:tcPr>
                </a:tc>
                <a:tc>
                  <a:txBody>
                    <a:bodyPr/>
                    <a:lstStyle/>
                    <a:p>
                      <a:endParaRPr lang="en-US"/>
                    </a:p>
                  </a:txBody>
                  <a:tcPr anchor="ctr">
                    <a:lnL>
                      <a:noFill/>
                    </a:lnL>
                    <a:lnR>
                      <a:noFill/>
                    </a:lnR>
                    <a:lnT>
                      <a:noFill/>
                    </a:lnT>
                    <a:lnB>
                      <a:noFill/>
                    </a:lnB>
                  </a:tcPr>
                </a:tc>
              </a:tr>
              <a:tr h="0">
                <a:tc>
                  <a:txBody>
                    <a:bodyPr/>
                    <a:lstStyle/>
                    <a:p>
                      <a:endParaRPr lang="en-US" dirty="0"/>
                    </a:p>
                  </a:txBody>
                  <a:tcPr anchor="ctr">
                    <a:lnL>
                      <a:noFill/>
                    </a:lnL>
                    <a:lnR>
                      <a:noFill/>
                    </a:lnR>
                    <a:lnT>
                      <a:noFill/>
                    </a:lnT>
                    <a:lnB>
                      <a:noFill/>
                    </a:lnB>
                  </a:tcPr>
                </a:tc>
                <a:tc>
                  <a:txBody>
                    <a:bodyPr/>
                    <a:lstStyle/>
                    <a:p>
                      <a:endParaRPr lang="en-US"/>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r>
            </a:tbl>
          </a:graphicData>
        </a:graphic>
      </p:graphicFrame>
      <p:sp>
        <p:nvSpPr>
          <p:cNvPr id="5" name="Rectangle 1"/>
          <p:cNvSpPr>
            <a:spLocks noGrp="1" noChangeArrowheads="1"/>
          </p:cNvSpPr>
          <p:nvPr>
            <p:ph type="body" sz="half" idx="2"/>
          </p:nvPr>
        </p:nvSpPr>
        <p:spPr bwMode="auto">
          <a:xfrm>
            <a:off x="2896352" y="2028630"/>
            <a:ext cx="618791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1" i="0" u="none" strike="noStrike" cap="none" normalizeH="0" baseline="0" dirty="0" smtClean="0">
                <a:ln>
                  <a:noFill/>
                </a:ln>
                <a:solidFill>
                  <a:schemeClr val="tx1"/>
                </a:solidFill>
                <a:effectLst/>
                <a:latin typeface="Arial" panose="020B0604020202020204" pitchFamily="34" charset="0"/>
              </a:rPr>
              <a:t>Model Performance (Test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952528219"/>
              </p:ext>
            </p:extLst>
          </p:nvPr>
        </p:nvGraphicFramePr>
        <p:xfrm>
          <a:off x="1621608" y="2882167"/>
          <a:ext cx="8889180" cy="2440604"/>
        </p:xfrm>
        <a:graphic>
          <a:graphicData uri="http://schemas.openxmlformats.org/drawingml/2006/table">
            <a:tbl>
              <a:tblPr firstRow="1" bandRow="1">
                <a:tableStyleId>{5C22544A-7EE6-4342-B048-85BDC9FD1C3A}</a:tableStyleId>
              </a:tblPr>
              <a:tblGrid>
                <a:gridCol w="2963060"/>
                <a:gridCol w="2963060"/>
                <a:gridCol w="2963060"/>
              </a:tblGrid>
              <a:tr h="630917">
                <a:tc>
                  <a:txBody>
                    <a:bodyPr/>
                    <a:lstStyle/>
                    <a:p>
                      <a:r>
                        <a:rPr lang="en-US" dirty="0"/>
                        <a:t>Model</a:t>
                      </a:r>
                    </a:p>
                  </a:txBody>
                  <a:tcPr anchor="ctr"/>
                </a:tc>
                <a:tc>
                  <a:txBody>
                    <a:bodyPr/>
                    <a:lstStyle/>
                    <a:p>
                      <a:r>
                        <a:rPr lang="en-US"/>
                        <a:t>RMSE</a:t>
                      </a:r>
                    </a:p>
                  </a:txBody>
                  <a:tcPr anchor="ctr"/>
                </a:tc>
                <a:tc>
                  <a:txBody>
                    <a:bodyPr/>
                    <a:lstStyle/>
                    <a:p>
                      <a:r>
                        <a:rPr lang="en-US"/>
                        <a:t>R² Score</a:t>
                      </a:r>
                    </a:p>
                  </a:txBody>
                  <a:tcPr anchor="ctr"/>
                </a:tc>
              </a:tr>
              <a:tr h="603229">
                <a:tc>
                  <a:txBody>
                    <a:bodyPr/>
                    <a:lstStyle/>
                    <a:p>
                      <a:r>
                        <a:rPr lang="en-US" dirty="0"/>
                        <a:t>Linear Regression</a:t>
                      </a:r>
                    </a:p>
                  </a:txBody>
                  <a:tcPr anchor="ctr"/>
                </a:tc>
                <a:tc>
                  <a:txBody>
                    <a:bodyPr/>
                    <a:lstStyle/>
                    <a:p>
                      <a:r>
                        <a:rPr lang="en-US"/>
                        <a:t>0.915</a:t>
                      </a:r>
                    </a:p>
                  </a:txBody>
                  <a:tcPr anchor="ctr"/>
                </a:tc>
                <a:tc>
                  <a:txBody>
                    <a:bodyPr/>
                    <a:lstStyle/>
                    <a:p>
                      <a:r>
                        <a:rPr lang="en-US"/>
                        <a:t>-0.198</a:t>
                      </a:r>
                    </a:p>
                  </a:txBody>
                  <a:tcPr anchor="ctr"/>
                </a:tc>
              </a:tr>
              <a:tr h="603229">
                <a:tc>
                  <a:txBody>
                    <a:bodyPr/>
                    <a:lstStyle/>
                    <a:p>
                      <a:r>
                        <a:rPr lang="en-US" dirty="0"/>
                        <a:t>Decision Tree</a:t>
                      </a:r>
                    </a:p>
                  </a:txBody>
                  <a:tcPr anchor="ctr"/>
                </a:tc>
                <a:tc>
                  <a:txBody>
                    <a:bodyPr/>
                    <a:lstStyle/>
                    <a:p>
                      <a:r>
                        <a:rPr lang="en-US"/>
                        <a:t>1.124</a:t>
                      </a:r>
                    </a:p>
                  </a:txBody>
                  <a:tcPr anchor="ctr"/>
                </a:tc>
                <a:tc>
                  <a:txBody>
                    <a:bodyPr/>
                    <a:lstStyle/>
                    <a:p>
                      <a:r>
                        <a:rPr lang="en-US"/>
                        <a:t>-0.806</a:t>
                      </a:r>
                    </a:p>
                  </a:txBody>
                  <a:tcPr anchor="ctr"/>
                </a:tc>
              </a:tr>
              <a:tr h="603229">
                <a:tc>
                  <a:txBody>
                    <a:bodyPr/>
                    <a:lstStyle/>
                    <a:p>
                      <a:r>
                        <a:rPr lang="en-US" dirty="0"/>
                        <a:t>Random Forest</a:t>
                      </a:r>
                    </a:p>
                  </a:txBody>
                  <a:tcPr anchor="ctr"/>
                </a:tc>
                <a:tc>
                  <a:txBody>
                    <a:bodyPr/>
                    <a:lstStyle/>
                    <a:p>
                      <a:r>
                        <a:rPr lang="en-US"/>
                        <a:t>0.874</a:t>
                      </a:r>
                    </a:p>
                  </a:txBody>
                  <a:tcPr anchor="ctr"/>
                </a:tc>
                <a:tc>
                  <a:txBody>
                    <a:bodyPr/>
                    <a:lstStyle/>
                    <a:p>
                      <a:r>
                        <a:rPr lang="en-US" dirty="0"/>
                        <a:t>-0.093</a:t>
                      </a:r>
                    </a:p>
                  </a:txBody>
                  <a:tcPr anchor="ctr"/>
                </a:tc>
              </a:tr>
            </a:tbl>
          </a:graphicData>
        </a:graphic>
      </p:graphicFrame>
    </p:spTree>
    <p:extLst>
      <p:ext uri="{BB962C8B-B14F-4D97-AF65-F5344CB8AC3E}">
        <p14:creationId xmlns:p14="http://schemas.microsoft.com/office/powerpoint/2010/main" val="1489356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11" y="2552451"/>
            <a:ext cx="9404723" cy="1400530"/>
          </a:xfrm>
        </p:spPr>
        <p:txBody>
          <a:bodyPr/>
          <a:lstStyle/>
          <a:p>
            <a:r>
              <a:rPr lang="en-US" sz="6000" b="1" dirty="0" smtClean="0"/>
              <a:t>Thank You!</a:t>
            </a:r>
            <a:endParaRPr lang="en-US" sz="6000" b="1" dirty="0"/>
          </a:p>
        </p:txBody>
      </p:sp>
    </p:spTree>
    <p:extLst>
      <p:ext uri="{BB962C8B-B14F-4D97-AF65-F5344CB8AC3E}">
        <p14:creationId xmlns:p14="http://schemas.microsoft.com/office/powerpoint/2010/main" val="8357013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59</TotalTime>
  <Words>309</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 Unicode MS</vt:lpstr>
      <vt:lpstr>Arial</vt:lpstr>
      <vt:lpstr>Century Gothic</vt:lpstr>
      <vt:lpstr>Wingdings 3</vt:lpstr>
      <vt:lpstr>Ion</vt:lpstr>
      <vt:lpstr>Student Performance Analysis Using Python</vt:lpstr>
      <vt:lpstr>Problem Statement</vt:lpstr>
      <vt:lpstr>Dataset</vt:lpstr>
      <vt:lpstr>Data Handling &amp; Cleaning</vt:lpstr>
      <vt:lpstr>Exploratory Data Analysis (EDA)</vt:lpstr>
      <vt:lpstr>Feature Engineering</vt:lpstr>
      <vt:lpstr>Model Result</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Performance Analysis Using Python</dc:title>
  <dc:creator>Microsoft account</dc:creator>
  <cp:lastModifiedBy>Microsoft account</cp:lastModifiedBy>
  <cp:revision>6</cp:revision>
  <dcterms:created xsi:type="dcterms:W3CDTF">2026-02-16T08:09:03Z</dcterms:created>
  <dcterms:modified xsi:type="dcterms:W3CDTF">2026-02-16T12:56:08Z</dcterms:modified>
</cp:coreProperties>
</file>